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9" r:id="rId3"/>
    <p:sldId id="257" r:id="rId4"/>
    <p:sldId id="258" r:id="rId5"/>
    <p:sldId id="260" r:id="rId6"/>
    <p:sldId id="261" r:id="rId7"/>
    <p:sldId id="265" r:id="rId8"/>
  </p:sldIdLst>
  <p:sldSz cx="18288000" cy="10287000"/>
  <p:notesSz cx="6858000" cy="9144000"/>
  <p:embeddedFontLst>
    <p:embeddedFont>
      <p:font typeface="Maven Pro" panose="020B0604020202020204" charset="0"/>
      <p:regular r:id="rId9"/>
    </p:embeddedFont>
    <p:embeddedFont>
      <p:font typeface="Maven Pro Bold" panose="020B0604020202020204" charset="0"/>
      <p:regular r:id="rId10"/>
    </p:embeddedFont>
    <p:embeddedFont>
      <p:font typeface="Maven Pro Medium" panose="020B0604020202020204" charset="0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1" d="100"/>
          <a:sy n="51" d="100"/>
        </p:scale>
        <p:origin x="1392" y="-115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79952" y="121088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83" r="-2083"/>
            </a:stretch>
          </a:blipFill>
        </p:spPr>
      </p:sp>
      <p:sp>
        <p:nvSpPr>
          <p:cNvPr id="3" name="Freeform 3"/>
          <p:cNvSpPr/>
          <p:nvPr/>
        </p:nvSpPr>
        <p:spPr>
          <a:xfrm rot="1481024" flipV="1">
            <a:off x="10702632" y="-1980721"/>
            <a:ext cx="13300530" cy="7198912"/>
          </a:xfrm>
          <a:custGeom>
            <a:avLst/>
            <a:gdLst/>
            <a:ahLst/>
            <a:cxnLst/>
            <a:rect l="l" t="t" r="r" b="b"/>
            <a:pathLst>
              <a:path w="13300530" h="7198912">
                <a:moveTo>
                  <a:pt x="0" y="7198912"/>
                </a:moveTo>
                <a:lnTo>
                  <a:pt x="13300530" y="7198912"/>
                </a:lnTo>
                <a:lnTo>
                  <a:pt x="13300530" y="0"/>
                </a:lnTo>
                <a:lnTo>
                  <a:pt x="0" y="0"/>
                </a:lnTo>
                <a:lnTo>
                  <a:pt x="0" y="7198912"/>
                </a:lnTo>
                <a:close/>
              </a:path>
            </a:pathLst>
          </a:custGeom>
          <a:blipFill>
            <a:blip r:embed="rId3">
              <a:alphaModFix amt="54000"/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1481024" flipH="1">
            <a:off x="-5715162" y="5068809"/>
            <a:ext cx="13300530" cy="7198912"/>
          </a:xfrm>
          <a:custGeom>
            <a:avLst/>
            <a:gdLst/>
            <a:ahLst/>
            <a:cxnLst/>
            <a:rect l="l" t="t" r="r" b="b"/>
            <a:pathLst>
              <a:path w="13300530" h="7198912">
                <a:moveTo>
                  <a:pt x="13300530" y="0"/>
                </a:moveTo>
                <a:lnTo>
                  <a:pt x="0" y="0"/>
                </a:lnTo>
                <a:lnTo>
                  <a:pt x="0" y="7198912"/>
                </a:lnTo>
                <a:lnTo>
                  <a:pt x="13300530" y="7198912"/>
                </a:lnTo>
                <a:lnTo>
                  <a:pt x="13300530" y="0"/>
                </a:lnTo>
                <a:close/>
              </a:path>
            </a:pathLst>
          </a:custGeom>
          <a:blipFill>
            <a:blip r:embed="rId3">
              <a:alphaModFix amt="54000"/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7990397" y="4428575"/>
            <a:ext cx="10678114" cy="6006439"/>
          </a:xfrm>
          <a:custGeom>
            <a:avLst/>
            <a:gdLst/>
            <a:ahLst/>
            <a:cxnLst/>
            <a:rect l="l" t="t" r="r" b="b"/>
            <a:pathLst>
              <a:path w="10678114" h="6006439">
                <a:moveTo>
                  <a:pt x="0" y="0"/>
                </a:moveTo>
                <a:lnTo>
                  <a:pt x="10678114" y="0"/>
                </a:lnTo>
                <a:lnTo>
                  <a:pt x="10678114" y="6006439"/>
                </a:lnTo>
                <a:lnTo>
                  <a:pt x="0" y="60064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125954" flipH="1" flipV="1">
            <a:off x="-3945493" y="-1056495"/>
            <a:ext cx="10678114" cy="6006439"/>
          </a:xfrm>
          <a:custGeom>
            <a:avLst/>
            <a:gdLst/>
            <a:ahLst/>
            <a:cxnLst/>
            <a:rect l="l" t="t" r="r" b="b"/>
            <a:pathLst>
              <a:path w="10678114" h="6006439">
                <a:moveTo>
                  <a:pt x="10678113" y="6006439"/>
                </a:moveTo>
                <a:lnTo>
                  <a:pt x="0" y="6006439"/>
                </a:lnTo>
                <a:lnTo>
                  <a:pt x="0" y="0"/>
                </a:lnTo>
                <a:lnTo>
                  <a:pt x="10678113" y="0"/>
                </a:lnTo>
                <a:lnTo>
                  <a:pt x="10678113" y="6006439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761786" y="2098893"/>
            <a:ext cx="16258359" cy="2954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sz="9600" b="1" dirty="0">
                <a:solidFill>
                  <a:srgbClr val="5A656C"/>
                </a:solidFill>
                <a:latin typeface="Maven Pro Bold"/>
                <a:ea typeface="Maven Pro Bold"/>
                <a:cs typeface="Maven Pro Bold"/>
                <a:sym typeface="Maven Pro Bold"/>
              </a:rPr>
              <a:t>Warehouse Slotting Optimizer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093112" y="5451882"/>
            <a:ext cx="8942657" cy="20056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 b="1" dirty="0">
                <a:solidFill>
                  <a:srgbClr val="A3A199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Guide: </a:t>
            </a:r>
            <a:r>
              <a:rPr lang="en-US" sz="3600" b="1" dirty="0" err="1">
                <a:solidFill>
                  <a:srgbClr val="A3A199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Ms</a:t>
            </a:r>
            <a:r>
              <a:rPr lang="en-US" sz="3600" b="1" dirty="0">
                <a:solidFill>
                  <a:srgbClr val="A3A199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. </a:t>
            </a:r>
            <a:r>
              <a:rPr lang="en-US" sz="3600" b="1" dirty="0" err="1">
                <a:solidFill>
                  <a:srgbClr val="A3A199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Chandusha</a:t>
            </a:r>
            <a:r>
              <a:rPr lang="en-US" sz="3600" b="1" dirty="0">
                <a:solidFill>
                  <a:srgbClr val="A3A199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en-US" sz="3600" b="1" dirty="0" err="1">
                <a:solidFill>
                  <a:srgbClr val="A3A199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Asst.Prof.,CS&amp;IT</a:t>
            </a:r>
            <a:endParaRPr lang="en-US" sz="3600" b="1" dirty="0">
              <a:solidFill>
                <a:srgbClr val="A3A199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  <a:p>
            <a:pPr algn="l"/>
            <a:r>
              <a:rPr lang="en-US" sz="3600" b="1" dirty="0">
                <a:solidFill>
                  <a:srgbClr val="A3A199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2520090213-Ramya</a:t>
            </a:r>
          </a:p>
          <a:p>
            <a:pPr algn="l"/>
            <a:r>
              <a:rPr lang="en-US" sz="3600" b="1" dirty="0">
                <a:solidFill>
                  <a:srgbClr val="A3A199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2520080009-krishnasree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093112" y="8611115"/>
            <a:ext cx="6326435" cy="4053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endParaRPr lang="en-US" sz="2500" b="1" dirty="0">
              <a:solidFill>
                <a:srgbClr val="5A656C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83" r="-2083"/>
            </a:stretch>
          </a:blipFill>
        </p:spPr>
      </p:sp>
      <p:sp>
        <p:nvSpPr>
          <p:cNvPr id="3" name="Freeform 3"/>
          <p:cNvSpPr/>
          <p:nvPr/>
        </p:nvSpPr>
        <p:spPr>
          <a:xfrm rot="1360060" flipH="1">
            <a:off x="-4300629" y="5622109"/>
            <a:ext cx="11256004" cy="6092312"/>
          </a:xfrm>
          <a:custGeom>
            <a:avLst/>
            <a:gdLst/>
            <a:ahLst/>
            <a:cxnLst/>
            <a:rect l="l" t="t" r="r" b="b"/>
            <a:pathLst>
              <a:path w="11256004" h="6092312">
                <a:moveTo>
                  <a:pt x="11256004" y="0"/>
                </a:moveTo>
                <a:lnTo>
                  <a:pt x="0" y="0"/>
                </a:lnTo>
                <a:lnTo>
                  <a:pt x="0" y="6092312"/>
                </a:lnTo>
                <a:lnTo>
                  <a:pt x="11256004" y="6092312"/>
                </a:lnTo>
                <a:lnTo>
                  <a:pt x="11256004" y="0"/>
                </a:lnTo>
                <a:close/>
              </a:path>
            </a:pathLst>
          </a:custGeom>
          <a:blipFill>
            <a:blip r:embed="rId3">
              <a:alphaModFix amt="31319"/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2404277" y="1428235"/>
            <a:ext cx="13479447" cy="14593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600"/>
              </a:lnSpc>
            </a:pPr>
            <a:r>
              <a:rPr lang="en-US" sz="9000" b="1" dirty="0">
                <a:solidFill>
                  <a:srgbClr val="5A656C"/>
                </a:solidFill>
                <a:latin typeface="Maven Pro Bold"/>
                <a:ea typeface="Maven Pro Bold"/>
                <a:cs typeface="Maven Pro Bold"/>
                <a:sym typeface="Maven Pro Bold"/>
              </a:rPr>
              <a:t>ABSTRACT</a:t>
            </a:r>
          </a:p>
        </p:txBody>
      </p:sp>
      <p:sp>
        <p:nvSpPr>
          <p:cNvPr id="5" name="Freeform 5"/>
          <p:cNvSpPr/>
          <p:nvPr/>
        </p:nvSpPr>
        <p:spPr>
          <a:xfrm rot="125954" flipH="1" flipV="1">
            <a:off x="-6032875" y="-750138"/>
            <a:ext cx="10678114" cy="6006439"/>
          </a:xfrm>
          <a:custGeom>
            <a:avLst/>
            <a:gdLst/>
            <a:ahLst/>
            <a:cxnLst/>
            <a:rect l="l" t="t" r="r" b="b"/>
            <a:pathLst>
              <a:path w="10678114" h="6006439">
                <a:moveTo>
                  <a:pt x="10678114" y="6006439"/>
                </a:moveTo>
                <a:lnTo>
                  <a:pt x="0" y="6006439"/>
                </a:lnTo>
                <a:lnTo>
                  <a:pt x="0" y="0"/>
                </a:lnTo>
                <a:lnTo>
                  <a:pt x="10678114" y="0"/>
                </a:lnTo>
                <a:lnTo>
                  <a:pt x="10678114" y="6006439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125954">
            <a:off x="13642761" y="5030699"/>
            <a:ext cx="10678114" cy="6006439"/>
          </a:xfrm>
          <a:custGeom>
            <a:avLst/>
            <a:gdLst/>
            <a:ahLst/>
            <a:cxnLst/>
            <a:rect l="l" t="t" r="r" b="b"/>
            <a:pathLst>
              <a:path w="10678114" h="6006439">
                <a:moveTo>
                  <a:pt x="0" y="0"/>
                </a:moveTo>
                <a:lnTo>
                  <a:pt x="10678114" y="0"/>
                </a:lnTo>
                <a:lnTo>
                  <a:pt x="10678114" y="6006439"/>
                </a:lnTo>
                <a:lnTo>
                  <a:pt x="0" y="60064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1360060" flipV="1">
            <a:off x="11332625" y="-1427421"/>
            <a:ext cx="11256004" cy="6092312"/>
          </a:xfrm>
          <a:custGeom>
            <a:avLst/>
            <a:gdLst/>
            <a:ahLst/>
            <a:cxnLst/>
            <a:rect l="l" t="t" r="r" b="b"/>
            <a:pathLst>
              <a:path w="11256004" h="6092312">
                <a:moveTo>
                  <a:pt x="0" y="6092312"/>
                </a:moveTo>
                <a:lnTo>
                  <a:pt x="11256004" y="6092312"/>
                </a:lnTo>
                <a:lnTo>
                  <a:pt x="11256004" y="0"/>
                </a:lnTo>
                <a:lnTo>
                  <a:pt x="0" y="0"/>
                </a:lnTo>
                <a:lnTo>
                  <a:pt x="0" y="6092312"/>
                </a:lnTo>
                <a:close/>
              </a:path>
            </a:pathLst>
          </a:custGeom>
          <a:blipFill>
            <a:blip r:embed="rId3">
              <a:alphaModFix amt="31319"/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3030043" y="3588138"/>
            <a:ext cx="12227914" cy="1771766"/>
            <a:chOff x="0" y="-76200"/>
            <a:chExt cx="16303885" cy="2362355"/>
          </a:xfrm>
        </p:grpSpPr>
        <p:sp>
          <p:nvSpPr>
            <p:cNvPr id="9" name="TextBox 9"/>
            <p:cNvSpPr txBox="1"/>
            <p:nvPr/>
          </p:nvSpPr>
          <p:spPr>
            <a:xfrm>
              <a:off x="3011453" y="-76200"/>
              <a:ext cx="13292432" cy="6486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 lang="en-US" sz="3000" dirty="0">
                <a:solidFill>
                  <a:srgbClr val="5A656C"/>
                </a:solidFill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266863"/>
              <a:ext cx="3011453" cy="20192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600"/>
                </a:lnSpc>
              </a:pPr>
              <a:endParaRPr lang="en-US" sz="9000" b="1" dirty="0">
                <a:solidFill>
                  <a:srgbClr val="5A656C"/>
                </a:solidFill>
                <a:latin typeface="Maven Pro Bold"/>
                <a:ea typeface="Maven Pro Bold"/>
                <a:cs typeface="Maven Pro Bold"/>
                <a:sym typeface="Maven Pro Bold"/>
              </a:endParaRP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896021" y="3047805"/>
            <a:ext cx="14495957" cy="64017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3200" dirty="0">
                <a:solidFill>
                  <a:schemeClr val="bg1">
                    <a:lumMod val="50000"/>
                  </a:schemeClr>
                </a:solidFill>
                <a:latin typeface="Maven Pro Medium" panose="020B0604020202020204" charset="0"/>
              </a:rPr>
              <a:t>Warehouse throughput depends significantly on </a:t>
            </a:r>
            <a:r>
              <a:rPr lang="en-IN" sz="3200" b="1" dirty="0">
                <a:solidFill>
                  <a:schemeClr val="bg1">
                    <a:lumMod val="50000"/>
                  </a:schemeClr>
                </a:solidFill>
                <a:latin typeface="Maven Pro Medium" panose="020B0604020202020204" charset="0"/>
              </a:rPr>
              <a:t>product placement</a:t>
            </a:r>
            <a:r>
              <a:rPr lang="en-IN" sz="3200" dirty="0">
                <a:solidFill>
                  <a:schemeClr val="bg1">
                    <a:lumMod val="50000"/>
                  </a:schemeClr>
                </a:solidFill>
                <a:latin typeface="Maven Pro Medium" panose="020B0604020202020204" charset="0"/>
              </a:rPr>
              <a:t>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3200" dirty="0">
                <a:solidFill>
                  <a:schemeClr val="bg1">
                    <a:lumMod val="50000"/>
                  </a:schemeClr>
                </a:solidFill>
                <a:latin typeface="Maven Pro Medium" panose="020B0604020202020204" charset="0"/>
              </a:rPr>
              <a:t>Products frequently picked together should ideally be stored </a:t>
            </a:r>
            <a:r>
              <a:rPr lang="en-IN" sz="3200" b="1" dirty="0">
                <a:solidFill>
                  <a:schemeClr val="bg1">
                    <a:lumMod val="50000"/>
                  </a:schemeClr>
                </a:solidFill>
                <a:latin typeface="Maven Pro Medium" panose="020B0604020202020204" charset="0"/>
              </a:rPr>
              <a:t>close to each other</a:t>
            </a:r>
            <a:r>
              <a:rPr lang="en-IN" sz="3200" dirty="0">
                <a:solidFill>
                  <a:schemeClr val="bg1">
                    <a:lumMod val="50000"/>
                  </a:schemeClr>
                </a:solidFill>
                <a:latin typeface="Maven Pro Medium" panose="020B0604020202020204" charset="0"/>
              </a:rPr>
              <a:t>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3200" dirty="0">
                <a:solidFill>
                  <a:schemeClr val="bg1">
                    <a:lumMod val="50000"/>
                  </a:schemeClr>
                </a:solidFill>
                <a:latin typeface="Maven Pro Medium" panose="020B0604020202020204" charset="0"/>
              </a:rPr>
              <a:t>Poor slot allocation increases </a:t>
            </a:r>
            <a:r>
              <a:rPr lang="en-IN" sz="3200" b="1" dirty="0">
                <a:solidFill>
                  <a:schemeClr val="bg1">
                    <a:lumMod val="50000"/>
                  </a:schemeClr>
                </a:solidFill>
                <a:latin typeface="Maven Pro Medium" panose="020B0604020202020204" charset="0"/>
              </a:rPr>
              <a:t>picker travel distance and order </a:t>
            </a:r>
            <a:r>
              <a:rPr lang="en-IN" sz="3200" b="1" dirty="0" err="1">
                <a:solidFill>
                  <a:schemeClr val="bg1">
                    <a:lumMod val="50000"/>
                  </a:schemeClr>
                </a:solidFill>
                <a:latin typeface="Maven Pro Medium" panose="020B0604020202020204" charset="0"/>
              </a:rPr>
              <a:t>ful</a:t>
            </a:r>
            <a:r>
              <a:rPr lang="en-IN" sz="3200" b="1" dirty="0">
                <a:solidFill>
                  <a:schemeClr val="bg1">
                    <a:lumMod val="50000"/>
                  </a:schemeClr>
                </a:solidFill>
                <a:latin typeface="Maven Pro Medium" panose="020B0604020202020204" charset="0"/>
              </a:rPr>
              <a:t> </a:t>
            </a:r>
            <a:r>
              <a:rPr lang="en-IN" sz="3200" b="1" dirty="0" err="1">
                <a:solidFill>
                  <a:schemeClr val="bg1">
                    <a:lumMod val="50000"/>
                  </a:schemeClr>
                </a:solidFill>
                <a:latin typeface="Maven Pro Medium" panose="020B0604020202020204" charset="0"/>
              </a:rPr>
              <a:t>fillment</a:t>
            </a:r>
            <a:r>
              <a:rPr lang="en-IN" sz="3200" b="1" dirty="0">
                <a:solidFill>
                  <a:schemeClr val="bg1">
                    <a:lumMod val="50000"/>
                  </a:schemeClr>
                </a:solidFill>
                <a:latin typeface="Maven Pro Medium" panose="020B0604020202020204" charset="0"/>
              </a:rPr>
              <a:t> time</a:t>
            </a:r>
            <a:r>
              <a:rPr lang="en-IN" sz="3200" dirty="0">
                <a:solidFill>
                  <a:schemeClr val="bg1">
                    <a:lumMod val="50000"/>
                  </a:schemeClr>
                </a:solidFill>
                <a:latin typeface="Maven Pro Medium" panose="020B0604020202020204" charset="0"/>
              </a:rPr>
              <a:t>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3200" dirty="0">
                <a:solidFill>
                  <a:schemeClr val="bg1">
                    <a:lumMod val="50000"/>
                  </a:schemeClr>
                </a:solidFill>
                <a:latin typeface="Maven Pro Medium" panose="020B0604020202020204" charset="0"/>
              </a:rPr>
              <a:t>The proposed system </a:t>
            </a:r>
            <a:r>
              <a:rPr lang="en-IN" sz="3200" dirty="0" err="1">
                <a:solidFill>
                  <a:schemeClr val="bg1">
                    <a:lumMod val="50000"/>
                  </a:schemeClr>
                </a:solidFill>
                <a:latin typeface="Maven Pro Medium" panose="020B0604020202020204" charset="0"/>
              </a:rPr>
              <a:t>analyzes</a:t>
            </a:r>
            <a:r>
              <a:rPr lang="en-IN" sz="3200" dirty="0">
                <a:solidFill>
                  <a:schemeClr val="bg1">
                    <a:lumMod val="50000"/>
                  </a:schemeClr>
                </a:solidFill>
                <a:latin typeface="Maven Pro Medium" panose="020B0604020202020204" charset="0"/>
              </a:rPr>
              <a:t> </a:t>
            </a:r>
            <a:r>
              <a:rPr lang="en-IN" sz="3200" b="1" dirty="0">
                <a:solidFill>
                  <a:schemeClr val="bg1">
                    <a:lumMod val="50000"/>
                  </a:schemeClr>
                </a:solidFill>
                <a:latin typeface="Maven Pro Medium" panose="020B0604020202020204" charset="0"/>
              </a:rPr>
              <a:t>historical order and SKU data</a:t>
            </a:r>
            <a:r>
              <a:rPr lang="en-IN" sz="3200" dirty="0">
                <a:solidFill>
                  <a:schemeClr val="bg1">
                    <a:lumMod val="50000"/>
                  </a:schemeClr>
                </a:solidFill>
                <a:latin typeface="Maven Pro Medium" panose="020B0604020202020204" charset="0"/>
              </a:rPr>
              <a:t> to identify co-pick patterns.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3200" b="1" dirty="0" err="1">
                <a:solidFill>
                  <a:schemeClr val="bg1">
                    <a:lumMod val="50000"/>
                  </a:schemeClr>
                </a:solidFill>
                <a:latin typeface="Maven Pro Medium" panose="020B0604020202020204" charset="0"/>
              </a:rPr>
              <a:t>Apriori</a:t>
            </a:r>
            <a:r>
              <a:rPr lang="en-IN" sz="3200" b="1" dirty="0">
                <a:solidFill>
                  <a:schemeClr val="bg1">
                    <a:lumMod val="50000"/>
                  </a:schemeClr>
                </a:solidFill>
                <a:latin typeface="Maven Pro Medium" panose="020B0604020202020204" charset="0"/>
              </a:rPr>
              <a:t> / FP-Growth</a:t>
            </a:r>
            <a:r>
              <a:rPr lang="en-IN" sz="3200" dirty="0">
                <a:solidFill>
                  <a:schemeClr val="bg1">
                    <a:lumMod val="50000"/>
                  </a:schemeClr>
                </a:solidFill>
                <a:latin typeface="Maven Pro Medium" panose="020B0604020202020204" charset="0"/>
              </a:rPr>
              <a:t> is used to discover frequently co-picked products.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3200" dirty="0">
                <a:solidFill>
                  <a:schemeClr val="bg1">
                    <a:lumMod val="50000"/>
                  </a:schemeClr>
                </a:solidFill>
                <a:latin typeface="Maven Pro Medium" panose="020B0604020202020204" charset="0"/>
              </a:rPr>
              <a:t>Product relationships are converted into an </a:t>
            </a:r>
            <a:r>
              <a:rPr lang="en-IN" sz="3200" b="1" dirty="0">
                <a:solidFill>
                  <a:schemeClr val="bg1">
                    <a:lumMod val="50000"/>
                  </a:schemeClr>
                </a:solidFill>
                <a:latin typeface="Maven Pro Medium" panose="020B0604020202020204" charset="0"/>
              </a:rPr>
              <a:t>affinity matrix</a:t>
            </a:r>
            <a:r>
              <a:rPr lang="en-IN" sz="3200" dirty="0">
                <a:solidFill>
                  <a:schemeClr val="bg1">
                    <a:lumMod val="50000"/>
                  </a:schemeClr>
                </a:solidFill>
                <a:latin typeface="Maven Pro Medium" panose="020B0604020202020204" charset="0"/>
              </a:rPr>
              <a:t>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3200" dirty="0">
                <a:solidFill>
                  <a:schemeClr val="bg1">
                    <a:lumMod val="50000"/>
                  </a:schemeClr>
                </a:solidFill>
                <a:latin typeface="Maven Pro Medium" panose="020B0604020202020204" charset="0"/>
              </a:rPr>
              <a:t>An optimization algorithm assigns products to suitable storage slots.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3200" dirty="0">
                <a:solidFill>
                  <a:schemeClr val="bg1">
                    <a:lumMod val="50000"/>
                  </a:schemeClr>
                </a:solidFill>
                <a:latin typeface="Maven Pro Medium" panose="020B0604020202020204" charset="0"/>
              </a:rPr>
              <a:t>The objective is to </a:t>
            </a:r>
            <a:r>
              <a:rPr lang="en-IN" sz="3200" b="1" dirty="0">
                <a:solidFill>
                  <a:schemeClr val="bg1">
                    <a:lumMod val="50000"/>
                  </a:schemeClr>
                </a:solidFill>
                <a:latin typeface="Maven Pro Medium" panose="020B0604020202020204" charset="0"/>
              </a:rPr>
              <a:t>minimize expected picking travel</a:t>
            </a:r>
            <a:r>
              <a:rPr lang="en-IN" sz="3200" dirty="0">
                <a:solidFill>
                  <a:schemeClr val="bg1">
                    <a:lumMod val="50000"/>
                  </a:schemeClr>
                </a:solidFill>
                <a:latin typeface="Maven Pro Medium" panose="020B0604020202020204" charset="0"/>
              </a:rPr>
              <a:t> while satisfying warehouse constraints.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3200" dirty="0">
                <a:solidFill>
                  <a:schemeClr val="bg1">
                    <a:lumMod val="50000"/>
                  </a:schemeClr>
                </a:solidFill>
                <a:latin typeface="Maven Pro Medium" panose="020B0604020202020204" charset="0"/>
              </a:rPr>
              <a:t>The optimized layout is evaluated against the existing layout. </a:t>
            </a:r>
            <a:r>
              <a:rPr lang="en-US" sz="3000" dirty="0">
                <a:solidFill>
                  <a:schemeClr val="bg1">
                    <a:lumMod val="50000"/>
                  </a:schemeClr>
                </a:solidFill>
                <a:latin typeface="Maven Pro Medium" panose="020B0604020202020204" charset="0"/>
                <a:ea typeface="Maven Pro"/>
                <a:cs typeface="Maven Pro"/>
                <a:sym typeface="Maven Pro"/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83" r="-2083"/>
            </a:stretch>
          </a:blipFill>
        </p:spPr>
      </p:sp>
      <p:sp>
        <p:nvSpPr>
          <p:cNvPr id="3" name="Freeform 3"/>
          <p:cNvSpPr/>
          <p:nvPr/>
        </p:nvSpPr>
        <p:spPr>
          <a:xfrm rot="1360060" flipH="1">
            <a:off x="-4300629" y="5622109"/>
            <a:ext cx="11256004" cy="6092312"/>
          </a:xfrm>
          <a:custGeom>
            <a:avLst/>
            <a:gdLst/>
            <a:ahLst/>
            <a:cxnLst/>
            <a:rect l="l" t="t" r="r" b="b"/>
            <a:pathLst>
              <a:path w="11256004" h="6092312">
                <a:moveTo>
                  <a:pt x="11256004" y="0"/>
                </a:moveTo>
                <a:lnTo>
                  <a:pt x="0" y="0"/>
                </a:lnTo>
                <a:lnTo>
                  <a:pt x="0" y="6092312"/>
                </a:lnTo>
                <a:lnTo>
                  <a:pt x="11256004" y="6092312"/>
                </a:lnTo>
                <a:lnTo>
                  <a:pt x="11256004" y="0"/>
                </a:lnTo>
                <a:close/>
              </a:path>
            </a:pathLst>
          </a:custGeom>
          <a:blipFill>
            <a:blip r:embed="rId3">
              <a:alphaModFix amt="31319"/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2209800" y="733586"/>
            <a:ext cx="13479447" cy="1562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600"/>
              </a:lnSpc>
            </a:pPr>
            <a:r>
              <a:rPr lang="en-US" sz="9000" b="1" dirty="0">
                <a:solidFill>
                  <a:srgbClr val="5A656C"/>
                </a:solidFill>
                <a:latin typeface="Maven Pro Bold"/>
                <a:ea typeface="Maven Pro Bold"/>
                <a:cs typeface="Maven Pro Bold"/>
                <a:sym typeface="Maven Pro Bold"/>
              </a:rPr>
              <a:t>INTRODUCTION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31212" y="2573588"/>
            <a:ext cx="15364240" cy="78060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IN" sz="2800" b="1" dirty="0">
                <a:solidFill>
                  <a:schemeClr val="bg1">
                    <a:lumMod val="50000"/>
                  </a:schemeClr>
                </a:solidFill>
                <a:latin typeface="Maven Pro" panose="020B0604020202020204" charset="0"/>
              </a:rPr>
              <a:t>Background:</a:t>
            </a:r>
          </a:p>
          <a:p>
            <a:pPr lvl="0"/>
            <a:r>
              <a:rPr lang="en-IN" sz="2800" dirty="0">
                <a:solidFill>
                  <a:schemeClr val="bg1">
                    <a:lumMod val="50000"/>
                  </a:schemeClr>
                </a:solidFill>
                <a:latin typeface="Maven Pro" panose="020B0604020202020204" charset="0"/>
              </a:rPr>
              <a:t>Warehouses store a large number of products across multiple storage locations. </a:t>
            </a:r>
          </a:p>
          <a:p>
            <a:pPr lvl="0"/>
            <a:r>
              <a:rPr lang="en-IN" sz="2800" dirty="0">
                <a:solidFill>
                  <a:schemeClr val="bg1">
                    <a:lumMod val="50000"/>
                  </a:schemeClr>
                </a:solidFill>
                <a:latin typeface="Maven Pro" panose="020B0604020202020204" charset="0"/>
              </a:rPr>
              <a:t>Order picking is one of the most </a:t>
            </a:r>
            <a:r>
              <a:rPr lang="en-IN" sz="2800" b="1" dirty="0">
                <a:solidFill>
                  <a:schemeClr val="bg1">
                    <a:lumMod val="50000"/>
                  </a:schemeClr>
                </a:solidFill>
                <a:latin typeface="Maven Pro" panose="020B0604020202020204" charset="0"/>
              </a:rPr>
              <a:t>time-consuming warehouse operations</a:t>
            </a:r>
            <a:r>
              <a:rPr lang="en-IN" sz="2800" dirty="0">
                <a:solidFill>
                  <a:schemeClr val="bg1">
                    <a:lumMod val="50000"/>
                  </a:schemeClr>
                </a:solidFill>
                <a:latin typeface="Maven Pro" panose="020B0604020202020204" charset="0"/>
              </a:rPr>
              <a:t>. </a:t>
            </a:r>
          </a:p>
          <a:p>
            <a:pPr lvl="0"/>
            <a:r>
              <a:rPr lang="en-IN" sz="2800" dirty="0">
                <a:solidFill>
                  <a:schemeClr val="bg1">
                    <a:lumMod val="50000"/>
                  </a:schemeClr>
                </a:solidFill>
                <a:latin typeface="Maven Pro" panose="020B0604020202020204" charset="0"/>
              </a:rPr>
              <a:t>A significant amount of picker time can be spent travelling between storage locations. </a:t>
            </a:r>
          </a:p>
          <a:p>
            <a:pPr lvl="0"/>
            <a:r>
              <a:rPr lang="en-IN" sz="2800" dirty="0">
                <a:solidFill>
                  <a:schemeClr val="bg1">
                    <a:lumMod val="50000"/>
                  </a:schemeClr>
                </a:solidFill>
                <a:latin typeface="Maven Pro" panose="020B0604020202020204" charset="0"/>
              </a:rPr>
              <a:t>Traditional slotting often relies on </a:t>
            </a:r>
            <a:r>
              <a:rPr lang="en-IN" sz="2800" b="1" dirty="0">
                <a:solidFill>
                  <a:schemeClr val="bg1">
                    <a:lumMod val="50000"/>
                  </a:schemeClr>
                </a:solidFill>
                <a:latin typeface="Maven Pro" panose="020B0604020202020204" charset="0"/>
              </a:rPr>
              <a:t>manual decisions or product demand alone</a:t>
            </a:r>
            <a:r>
              <a:rPr lang="en-IN" sz="2800" dirty="0">
                <a:solidFill>
                  <a:schemeClr val="bg1">
                    <a:lumMod val="50000"/>
                  </a:schemeClr>
                </a:solidFill>
                <a:latin typeface="Maven Pro" panose="020B0604020202020204" charset="0"/>
              </a:rPr>
              <a:t>. </a:t>
            </a:r>
          </a:p>
          <a:p>
            <a:r>
              <a:rPr lang="en-IN" sz="2800" b="1" dirty="0">
                <a:solidFill>
                  <a:schemeClr val="bg1">
                    <a:lumMod val="50000"/>
                  </a:schemeClr>
                </a:solidFill>
                <a:latin typeface="Maven Pro" panose="020B0604020202020204" charset="0"/>
              </a:rPr>
              <a:t>Problem:</a:t>
            </a:r>
          </a:p>
          <a:p>
            <a:pPr lvl="0"/>
            <a:r>
              <a:rPr lang="en-IN" sz="2800" dirty="0">
                <a:solidFill>
                  <a:schemeClr val="bg1">
                    <a:lumMod val="50000"/>
                  </a:schemeClr>
                </a:solidFill>
                <a:latin typeface="Maven Pro" panose="020B0604020202020204" charset="0"/>
              </a:rPr>
              <a:t>Frequently co-picked products may be stored far apart. </a:t>
            </a:r>
          </a:p>
          <a:p>
            <a:pPr lvl="0"/>
            <a:r>
              <a:rPr lang="en-IN" sz="2800" dirty="0">
                <a:solidFill>
                  <a:schemeClr val="bg1">
                    <a:lumMod val="50000"/>
                  </a:schemeClr>
                </a:solidFill>
                <a:latin typeface="Maven Pro" panose="020B0604020202020204" charset="0"/>
              </a:rPr>
              <a:t>This causes: </a:t>
            </a:r>
          </a:p>
          <a:p>
            <a:pPr lvl="1"/>
            <a:r>
              <a:rPr lang="en-IN" sz="2800" dirty="0">
                <a:solidFill>
                  <a:schemeClr val="bg1">
                    <a:lumMod val="50000"/>
                  </a:schemeClr>
                </a:solidFill>
                <a:latin typeface="Maven Pro" panose="020B0604020202020204" charset="0"/>
              </a:rPr>
              <a:t>Increased travel distance </a:t>
            </a:r>
          </a:p>
          <a:p>
            <a:pPr lvl="1"/>
            <a:r>
              <a:rPr lang="en-IN" sz="2800" dirty="0">
                <a:solidFill>
                  <a:schemeClr val="bg1">
                    <a:lumMod val="50000"/>
                  </a:schemeClr>
                </a:solidFill>
                <a:latin typeface="Maven Pro" panose="020B0604020202020204" charset="0"/>
              </a:rPr>
              <a:t>Longer picking time </a:t>
            </a:r>
          </a:p>
          <a:p>
            <a:pPr lvl="1"/>
            <a:r>
              <a:rPr lang="en-IN" sz="2800" dirty="0">
                <a:solidFill>
                  <a:schemeClr val="bg1">
                    <a:lumMod val="50000"/>
                  </a:schemeClr>
                </a:solidFill>
                <a:latin typeface="Maven Pro" panose="020B0604020202020204" charset="0"/>
              </a:rPr>
              <a:t>Higher </a:t>
            </a:r>
            <a:r>
              <a:rPr lang="en-IN" sz="2800" dirty="0" err="1">
                <a:solidFill>
                  <a:schemeClr val="bg1">
                    <a:lumMod val="50000"/>
                  </a:schemeClr>
                </a:solidFill>
                <a:latin typeface="Maven Pro" panose="020B0604020202020204" charset="0"/>
              </a:rPr>
              <a:t>labor</a:t>
            </a:r>
            <a:r>
              <a:rPr lang="en-IN" sz="2800" dirty="0">
                <a:solidFill>
                  <a:schemeClr val="bg1">
                    <a:lumMod val="50000"/>
                  </a:schemeClr>
                </a:solidFill>
                <a:latin typeface="Maven Pro" panose="020B0604020202020204" charset="0"/>
              </a:rPr>
              <a:t> effort </a:t>
            </a:r>
          </a:p>
          <a:p>
            <a:pPr lvl="1"/>
            <a:r>
              <a:rPr lang="en-IN" sz="2800" dirty="0">
                <a:solidFill>
                  <a:schemeClr val="bg1">
                    <a:lumMod val="50000"/>
                  </a:schemeClr>
                </a:solidFill>
                <a:latin typeface="Maven Pro" panose="020B0604020202020204" charset="0"/>
              </a:rPr>
              <a:t>Reduced warehouse throughput </a:t>
            </a:r>
          </a:p>
          <a:p>
            <a:r>
              <a:rPr lang="en-IN" sz="2800" b="1" dirty="0">
                <a:solidFill>
                  <a:schemeClr val="bg1">
                    <a:lumMod val="50000"/>
                  </a:schemeClr>
                </a:solidFill>
                <a:latin typeface="Maven Pro" panose="020B0604020202020204" charset="0"/>
              </a:rPr>
              <a:t>Objective:</a:t>
            </a:r>
          </a:p>
          <a:p>
            <a:pPr lvl="0"/>
            <a:r>
              <a:rPr lang="en-IN" sz="2800" dirty="0" err="1">
                <a:solidFill>
                  <a:schemeClr val="bg1">
                    <a:lumMod val="50000"/>
                  </a:schemeClr>
                </a:solidFill>
                <a:latin typeface="Maven Pro" panose="020B0604020202020204" charset="0"/>
              </a:rPr>
              <a:t>Analyze</a:t>
            </a:r>
            <a:r>
              <a:rPr lang="en-IN" sz="2800" dirty="0">
                <a:solidFill>
                  <a:schemeClr val="bg1">
                    <a:lumMod val="50000"/>
                  </a:schemeClr>
                </a:solidFill>
                <a:latin typeface="Maven Pro" panose="020B0604020202020204" charset="0"/>
              </a:rPr>
              <a:t> historical orders. </a:t>
            </a:r>
          </a:p>
          <a:p>
            <a:pPr lvl="0"/>
            <a:r>
              <a:rPr lang="en-IN" sz="2800" dirty="0">
                <a:solidFill>
                  <a:schemeClr val="bg1">
                    <a:lumMod val="50000"/>
                  </a:schemeClr>
                </a:solidFill>
                <a:latin typeface="Maven Pro" panose="020B0604020202020204" charset="0"/>
              </a:rPr>
              <a:t>Discover product co-pick relationships. </a:t>
            </a:r>
          </a:p>
          <a:p>
            <a:pPr lvl="0"/>
            <a:r>
              <a:rPr lang="en-IN" sz="2800" dirty="0">
                <a:solidFill>
                  <a:schemeClr val="bg1">
                    <a:lumMod val="50000"/>
                  </a:schemeClr>
                </a:solidFill>
                <a:latin typeface="Maven Pro" panose="020B0604020202020204" charset="0"/>
              </a:rPr>
              <a:t>Assign related products to nearby slots. </a:t>
            </a:r>
          </a:p>
          <a:p>
            <a:pPr lvl="0"/>
            <a:r>
              <a:rPr lang="en-IN" sz="2800" b="1" dirty="0">
                <a:solidFill>
                  <a:schemeClr val="bg1">
                    <a:lumMod val="50000"/>
                  </a:schemeClr>
                </a:solidFill>
                <a:latin typeface="Maven Pro" panose="020B0604020202020204" charset="0"/>
              </a:rPr>
              <a:t>Minimize expected picker travel distance.</a:t>
            </a:r>
            <a:endParaRPr lang="en-IN" sz="2800" dirty="0">
              <a:solidFill>
                <a:schemeClr val="bg1">
                  <a:lumMod val="50000"/>
                </a:schemeClr>
              </a:solidFill>
              <a:latin typeface="Maven Pro" panose="020B0604020202020204" charset="0"/>
            </a:endParaRPr>
          </a:p>
          <a:p>
            <a:pPr algn="ctr">
              <a:lnSpc>
                <a:spcPts val="4200"/>
              </a:lnSpc>
            </a:pPr>
            <a:endParaRPr lang="en-US" sz="2800" dirty="0">
              <a:solidFill>
                <a:schemeClr val="bg1">
                  <a:lumMod val="50000"/>
                </a:schemeClr>
              </a:solidFill>
              <a:latin typeface="Maven Pro" panose="020B0604020202020204" charset="0"/>
              <a:ea typeface="Maven Pro"/>
              <a:cs typeface="Maven Pro"/>
              <a:sym typeface="Maven Pro"/>
            </a:endParaRPr>
          </a:p>
        </p:txBody>
      </p:sp>
      <p:sp>
        <p:nvSpPr>
          <p:cNvPr id="6" name="Freeform 6"/>
          <p:cNvSpPr/>
          <p:nvPr/>
        </p:nvSpPr>
        <p:spPr>
          <a:xfrm rot="125954" flipH="1" flipV="1">
            <a:off x="-6600393" y="-463193"/>
            <a:ext cx="10678114" cy="6006439"/>
          </a:xfrm>
          <a:custGeom>
            <a:avLst/>
            <a:gdLst/>
            <a:ahLst/>
            <a:cxnLst/>
            <a:rect l="l" t="t" r="r" b="b"/>
            <a:pathLst>
              <a:path w="10678114" h="6006439">
                <a:moveTo>
                  <a:pt x="10678114" y="6006439"/>
                </a:moveTo>
                <a:lnTo>
                  <a:pt x="0" y="6006439"/>
                </a:lnTo>
                <a:lnTo>
                  <a:pt x="0" y="0"/>
                </a:lnTo>
                <a:lnTo>
                  <a:pt x="10678114" y="0"/>
                </a:lnTo>
                <a:lnTo>
                  <a:pt x="10678114" y="6006439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125954">
            <a:off x="13642761" y="5030699"/>
            <a:ext cx="10678114" cy="6006439"/>
          </a:xfrm>
          <a:custGeom>
            <a:avLst/>
            <a:gdLst/>
            <a:ahLst/>
            <a:cxnLst/>
            <a:rect l="l" t="t" r="r" b="b"/>
            <a:pathLst>
              <a:path w="10678114" h="6006439">
                <a:moveTo>
                  <a:pt x="0" y="0"/>
                </a:moveTo>
                <a:lnTo>
                  <a:pt x="10678114" y="0"/>
                </a:lnTo>
                <a:lnTo>
                  <a:pt x="10678114" y="6006439"/>
                </a:lnTo>
                <a:lnTo>
                  <a:pt x="0" y="60064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1360060" flipV="1">
            <a:off x="11332625" y="-1427421"/>
            <a:ext cx="11256004" cy="6092312"/>
          </a:xfrm>
          <a:custGeom>
            <a:avLst/>
            <a:gdLst/>
            <a:ahLst/>
            <a:cxnLst/>
            <a:rect l="l" t="t" r="r" b="b"/>
            <a:pathLst>
              <a:path w="11256004" h="6092312">
                <a:moveTo>
                  <a:pt x="0" y="6092312"/>
                </a:moveTo>
                <a:lnTo>
                  <a:pt x="11256004" y="6092312"/>
                </a:lnTo>
                <a:lnTo>
                  <a:pt x="11256004" y="0"/>
                </a:lnTo>
                <a:lnTo>
                  <a:pt x="0" y="0"/>
                </a:lnTo>
                <a:lnTo>
                  <a:pt x="0" y="6092312"/>
                </a:lnTo>
                <a:close/>
              </a:path>
            </a:pathLst>
          </a:custGeom>
          <a:blipFill>
            <a:blip r:embed="rId3">
              <a:alphaModFix amt="31319"/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83" r="-2083"/>
            </a:stretch>
          </a:blipFill>
        </p:spPr>
      </p:sp>
      <p:sp>
        <p:nvSpPr>
          <p:cNvPr id="3" name="Freeform 3"/>
          <p:cNvSpPr/>
          <p:nvPr/>
        </p:nvSpPr>
        <p:spPr>
          <a:xfrm rot="1360060" flipH="1">
            <a:off x="-4598183" y="5503741"/>
            <a:ext cx="11256004" cy="6092312"/>
          </a:xfrm>
          <a:custGeom>
            <a:avLst/>
            <a:gdLst/>
            <a:ahLst/>
            <a:cxnLst/>
            <a:rect l="l" t="t" r="r" b="b"/>
            <a:pathLst>
              <a:path w="11256004" h="6092312">
                <a:moveTo>
                  <a:pt x="11256004" y="0"/>
                </a:moveTo>
                <a:lnTo>
                  <a:pt x="0" y="0"/>
                </a:lnTo>
                <a:lnTo>
                  <a:pt x="0" y="6092312"/>
                </a:lnTo>
                <a:lnTo>
                  <a:pt x="11256004" y="6092312"/>
                </a:lnTo>
                <a:lnTo>
                  <a:pt x="11256004" y="0"/>
                </a:lnTo>
                <a:close/>
              </a:path>
            </a:pathLst>
          </a:custGeom>
          <a:blipFill>
            <a:blip r:embed="rId3">
              <a:alphaModFix amt="31319"/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533400" y="800100"/>
            <a:ext cx="14450641" cy="27699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9000" b="1" dirty="0">
                <a:solidFill>
                  <a:srgbClr val="5A656C"/>
                </a:solidFill>
                <a:latin typeface="Maven Pro Bold"/>
                <a:ea typeface="Maven Pro Bold"/>
                <a:cs typeface="Maven Pro Bold"/>
                <a:sym typeface="Maven Pro Bold"/>
              </a:rPr>
              <a:t>Software &amp; Hardware Requirements: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29497" y="3920539"/>
            <a:ext cx="6191560" cy="4426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IN" sz="3200" b="1" dirty="0"/>
              <a:t>Software</a:t>
            </a:r>
            <a:endParaRPr lang="en-IN" sz="3200" dirty="0"/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3200" dirty="0"/>
              <a:t>Python 3.x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3200" dirty="0"/>
              <a:t>Google </a:t>
            </a:r>
            <a:r>
              <a:rPr lang="en-IN" sz="3200" dirty="0" err="1"/>
              <a:t>Colab</a:t>
            </a:r>
            <a:r>
              <a:rPr lang="en-IN" sz="3200" dirty="0"/>
              <a:t> / Jupyter Notebook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3200" dirty="0"/>
              <a:t>Pandas &amp; NumPy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3200" dirty="0" err="1"/>
              <a:t>Mlxtend</a:t>
            </a:r>
            <a:r>
              <a:rPr lang="en-IN" sz="3200" dirty="0"/>
              <a:t> — </a:t>
            </a:r>
            <a:r>
              <a:rPr lang="en-IN" sz="3200" dirty="0" err="1"/>
              <a:t>Apriori</a:t>
            </a:r>
            <a:r>
              <a:rPr lang="en-IN" sz="3200" dirty="0"/>
              <a:t> / FP-Growth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3200" dirty="0"/>
              <a:t>Scikit-learn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3200" dirty="0"/>
              <a:t>Matplotlib / </a:t>
            </a:r>
            <a:r>
              <a:rPr lang="en-IN" sz="3200" dirty="0" err="1"/>
              <a:t>Plotly</a:t>
            </a:r>
            <a:r>
              <a:rPr lang="en-IN" sz="3200" dirty="0"/>
              <a:t>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3200" dirty="0" err="1"/>
              <a:t>Streamlit</a:t>
            </a:r>
            <a:r>
              <a:rPr lang="en-IN" sz="3200" dirty="0"/>
              <a:t> — Dashboard</a:t>
            </a:r>
          </a:p>
          <a:p>
            <a:pPr algn="l">
              <a:lnSpc>
                <a:spcPts val="4200"/>
              </a:lnSpc>
            </a:pPr>
            <a:endParaRPr lang="en-US" sz="3000" dirty="0">
              <a:solidFill>
                <a:srgbClr val="5A656C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6" name="Freeform 6"/>
          <p:cNvSpPr/>
          <p:nvPr/>
        </p:nvSpPr>
        <p:spPr>
          <a:xfrm rot="125954" flipH="1" flipV="1">
            <a:off x="-6132571" y="-931343"/>
            <a:ext cx="10678114" cy="6006439"/>
          </a:xfrm>
          <a:custGeom>
            <a:avLst/>
            <a:gdLst/>
            <a:ahLst/>
            <a:cxnLst/>
            <a:rect l="l" t="t" r="r" b="b"/>
            <a:pathLst>
              <a:path w="10678114" h="6006439">
                <a:moveTo>
                  <a:pt x="10678114" y="6006439"/>
                </a:moveTo>
                <a:lnTo>
                  <a:pt x="0" y="6006439"/>
                </a:lnTo>
                <a:lnTo>
                  <a:pt x="0" y="0"/>
                </a:lnTo>
                <a:lnTo>
                  <a:pt x="10678114" y="0"/>
                </a:lnTo>
                <a:lnTo>
                  <a:pt x="10678114" y="6006439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125954">
            <a:off x="13642761" y="5030699"/>
            <a:ext cx="10678114" cy="6006439"/>
          </a:xfrm>
          <a:custGeom>
            <a:avLst/>
            <a:gdLst/>
            <a:ahLst/>
            <a:cxnLst/>
            <a:rect l="l" t="t" r="r" b="b"/>
            <a:pathLst>
              <a:path w="10678114" h="6006439">
                <a:moveTo>
                  <a:pt x="0" y="0"/>
                </a:moveTo>
                <a:lnTo>
                  <a:pt x="10678114" y="0"/>
                </a:lnTo>
                <a:lnTo>
                  <a:pt x="10678114" y="6006439"/>
                </a:lnTo>
                <a:lnTo>
                  <a:pt x="0" y="60064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1360060" flipV="1">
            <a:off x="11332625" y="-1427421"/>
            <a:ext cx="11256004" cy="6092312"/>
          </a:xfrm>
          <a:custGeom>
            <a:avLst/>
            <a:gdLst/>
            <a:ahLst/>
            <a:cxnLst/>
            <a:rect l="l" t="t" r="r" b="b"/>
            <a:pathLst>
              <a:path w="11256004" h="6092312">
                <a:moveTo>
                  <a:pt x="0" y="6092312"/>
                </a:moveTo>
                <a:lnTo>
                  <a:pt x="11256004" y="6092312"/>
                </a:lnTo>
                <a:lnTo>
                  <a:pt x="11256004" y="0"/>
                </a:lnTo>
                <a:lnTo>
                  <a:pt x="0" y="0"/>
                </a:lnTo>
                <a:lnTo>
                  <a:pt x="0" y="6092312"/>
                </a:lnTo>
                <a:close/>
              </a:path>
            </a:pathLst>
          </a:custGeom>
          <a:blipFill>
            <a:blip r:embed="rId3">
              <a:alphaModFix amt="31319"/>
            </a:blip>
            <a:stretch>
              <a:fillRect/>
            </a:stretch>
          </a:blipFill>
        </p:spPr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4222393-2D06-A60F-D874-CD934BF144B3}"/>
              </a:ext>
            </a:extLst>
          </p:cNvPr>
          <p:cNvSpPr txBox="1"/>
          <p:nvPr/>
        </p:nvSpPr>
        <p:spPr>
          <a:xfrm>
            <a:off x="8991600" y="4093189"/>
            <a:ext cx="571500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200" b="1" dirty="0"/>
              <a:t>Hardware</a:t>
            </a:r>
            <a:endParaRPr lang="en-IN" sz="32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200" dirty="0"/>
              <a:t>Intel i3/i5 or equivalent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200" dirty="0"/>
              <a:t>8 GB RAM or higher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200" dirty="0"/>
              <a:t>20 GB storage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200" dirty="0"/>
              <a:t>Windows / Linux / macOS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200" dirty="0"/>
              <a:t>Internet connection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83" r="-2083"/>
            </a:stretch>
          </a:blipFill>
        </p:spPr>
      </p:sp>
      <p:sp>
        <p:nvSpPr>
          <p:cNvPr id="3" name="Freeform 3"/>
          <p:cNvSpPr/>
          <p:nvPr/>
        </p:nvSpPr>
        <p:spPr>
          <a:xfrm rot="1360060" flipH="1">
            <a:off x="-4300629" y="5622109"/>
            <a:ext cx="11256004" cy="6092312"/>
          </a:xfrm>
          <a:custGeom>
            <a:avLst/>
            <a:gdLst/>
            <a:ahLst/>
            <a:cxnLst/>
            <a:rect l="l" t="t" r="r" b="b"/>
            <a:pathLst>
              <a:path w="11256004" h="6092312">
                <a:moveTo>
                  <a:pt x="11256004" y="0"/>
                </a:moveTo>
                <a:lnTo>
                  <a:pt x="0" y="0"/>
                </a:lnTo>
                <a:lnTo>
                  <a:pt x="0" y="6092312"/>
                </a:lnTo>
                <a:lnTo>
                  <a:pt x="11256004" y="6092312"/>
                </a:lnTo>
                <a:lnTo>
                  <a:pt x="11256004" y="0"/>
                </a:lnTo>
                <a:close/>
              </a:path>
            </a:pathLst>
          </a:custGeom>
          <a:blipFill>
            <a:blip r:embed="rId3">
              <a:alphaModFix amt="31319"/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2416769" y="742585"/>
            <a:ext cx="13479447" cy="14593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600"/>
              </a:lnSpc>
            </a:pPr>
            <a:r>
              <a:rPr lang="en-US" sz="9000" b="1" dirty="0">
                <a:solidFill>
                  <a:srgbClr val="5A656C"/>
                </a:solidFill>
                <a:latin typeface="Maven Pro Bold"/>
                <a:ea typeface="Maven Pro Bold"/>
                <a:cs typeface="Maven Pro Bold"/>
                <a:sym typeface="Maven Pro Bold"/>
              </a:rPr>
              <a:t>Literature survey:</a:t>
            </a:r>
          </a:p>
        </p:txBody>
      </p:sp>
      <p:sp>
        <p:nvSpPr>
          <p:cNvPr id="5" name="Freeform 5"/>
          <p:cNvSpPr/>
          <p:nvPr/>
        </p:nvSpPr>
        <p:spPr>
          <a:xfrm rot="125954" flipH="1" flipV="1">
            <a:off x="-6032875" y="-750138"/>
            <a:ext cx="10678114" cy="6006439"/>
          </a:xfrm>
          <a:custGeom>
            <a:avLst/>
            <a:gdLst/>
            <a:ahLst/>
            <a:cxnLst/>
            <a:rect l="l" t="t" r="r" b="b"/>
            <a:pathLst>
              <a:path w="10678114" h="6006439">
                <a:moveTo>
                  <a:pt x="10678114" y="6006439"/>
                </a:moveTo>
                <a:lnTo>
                  <a:pt x="0" y="6006439"/>
                </a:lnTo>
                <a:lnTo>
                  <a:pt x="0" y="0"/>
                </a:lnTo>
                <a:lnTo>
                  <a:pt x="10678114" y="0"/>
                </a:lnTo>
                <a:lnTo>
                  <a:pt x="10678114" y="6006439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125954">
            <a:off x="13642761" y="5030699"/>
            <a:ext cx="10678114" cy="6006439"/>
          </a:xfrm>
          <a:custGeom>
            <a:avLst/>
            <a:gdLst/>
            <a:ahLst/>
            <a:cxnLst/>
            <a:rect l="l" t="t" r="r" b="b"/>
            <a:pathLst>
              <a:path w="10678114" h="6006439">
                <a:moveTo>
                  <a:pt x="0" y="0"/>
                </a:moveTo>
                <a:lnTo>
                  <a:pt x="10678114" y="0"/>
                </a:lnTo>
                <a:lnTo>
                  <a:pt x="10678114" y="6006439"/>
                </a:lnTo>
                <a:lnTo>
                  <a:pt x="0" y="60064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1360060" flipV="1">
            <a:off x="11332625" y="-1427421"/>
            <a:ext cx="11256004" cy="6092312"/>
          </a:xfrm>
          <a:custGeom>
            <a:avLst/>
            <a:gdLst/>
            <a:ahLst/>
            <a:cxnLst/>
            <a:rect l="l" t="t" r="r" b="b"/>
            <a:pathLst>
              <a:path w="11256004" h="6092312">
                <a:moveTo>
                  <a:pt x="0" y="6092312"/>
                </a:moveTo>
                <a:lnTo>
                  <a:pt x="11256004" y="6092312"/>
                </a:lnTo>
                <a:lnTo>
                  <a:pt x="11256004" y="0"/>
                </a:lnTo>
                <a:lnTo>
                  <a:pt x="0" y="0"/>
                </a:lnTo>
                <a:lnTo>
                  <a:pt x="0" y="6092312"/>
                </a:lnTo>
                <a:close/>
              </a:path>
            </a:pathLst>
          </a:custGeom>
          <a:blipFill>
            <a:blip r:embed="rId3">
              <a:alphaModFix amt="31319"/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676400" y="3390900"/>
            <a:ext cx="13710160" cy="49946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/>
            <a:r>
              <a:rPr lang="en-IN" sz="3200" b="1" dirty="0"/>
              <a:t>Association Rule Mining:</a:t>
            </a:r>
            <a:r>
              <a:rPr lang="en-IN" sz="3200" dirty="0"/>
              <a:t> </a:t>
            </a:r>
            <a:r>
              <a:rPr lang="en-IN" sz="3200" dirty="0" err="1"/>
              <a:t>Apriori</a:t>
            </a:r>
            <a:r>
              <a:rPr lang="en-IN" sz="3200" dirty="0"/>
              <a:t> and FP-Growth identify frequently co-occurring products. </a:t>
            </a:r>
          </a:p>
          <a:p>
            <a:pPr lvl="0"/>
            <a:r>
              <a:rPr lang="en-IN" sz="3200" b="1" dirty="0"/>
              <a:t>Warehouse Slotting:</a:t>
            </a:r>
            <a:r>
              <a:rPr lang="en-IN" sz="3200" dirty="0"/>
              <a:t> Determines suitable locations based on demand, accessibility, and product characteristics. </a:t>
            </a:r>
          </a:p>
          <a:p>
            <a:pPr lvl="0"/>
            <a:r>
              <a:rPr lang="en-IN" sz="3200" b="1" dirty="0"/>
              <a:t>Order Picking:</a:t>
            </a:r>
            <a:r>
              <a:rPr lang="en-IN" sz="3200" dirty="0"/>
              <a:t> Research focuses on reducing picker travel and </a:t>
            </a:r>
            <a:r>
              <a:rPr lang="en-IN" sz="3200" dirty="0" err="1"/>
              <a:t>fulfillment</a:t>
            </a:r>
            <a:r>
              <a:rPr lang="en-IN" sz="3200" dirty="0"/>
              <a:t> time. </a:t>
            </a:r>
          </a:p>
          <a:p>
            <a:pPr lvl="0"/>
            <a:r>
              <a:rPr lang="en-IN" sz="3200" b="1" dirty="0"/>
              <a:t>Optimization:</a:t>
            </a:r>
            <a:r>
              <a:rPr lang="en-IN" sz="3200" dirty="0"/>
              <a:t> Genetic Algorithms, Simulated Annealing, and Greedy methods solve complex slot-assignment problems. </a:t>
            </a:r>
          </a:p>
          <a:p>
            <a:pPr lvl="0"/>
            <a:r>
              <a:rPr lang="en-IN" sz="3200" b="1" dirty="0"/>
              <a:t>Research Gap:</a:t>
            </a:r>
            <a:r>
              <a:rPr lang="en-IN" sz="3200" dirty="0"/>
              <a:t> Existing approaches often focus on individual product demand; our approach combines </a:t>
            </a:r>
            <a:r>
              <a:rPr lang="en-IN" sz="3200" b="1" dirty="0"/>
              <a:t>co-pick affinity with slot distance</a:t>
            </a:r>
            <a:r>
              <a:rPr lang="en-IN" sz="3200" dirty="0"/>
              <a:t>.</a:t>
            </a:r>
          </a:p>
          <a:p>
            <a:pPr algn="l">
              <a:lnSpc>
                <a:spcPts val="4200"/>
              </a:lnSpc>
            </a:pPr>
            <a:endParaRPr lang="en-US" sz="3000" dirty="0">
              <a:solidFill>
                <a:srgbClr val="5A656C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83" r="-2083"/>
            </a:stretch>
          </a:blipFill>
        </p:spPr>
      </p:sp>
      <p:sp>
        <p:nvSpPr>
          <p:cNvPr id="3" name="Freeform 3"/>
          <p:cNvSpPr/>
          <p:nvPr/>
        </p:nvSpPr>
        <p:spPr>
          <a:xfrm rot="1360060" flipH="1">
            <a:off x="-4300629" y="5622109"/>
            <a:ext cx="11256004" cy="6092312"/>
          </a:xfrm>
          <a:custGeom>
            <a:avLst/>
            <a:gdLst/>
            <a:ahLst/>
            <a:cxnLst/>
            <a:rect l="l" t="t" r="r" b="b"/>
            <a:pathLst>
              <a:path w="11256004" h="6092312">
                <a:moveTo>
                  <a:pt x="11256004" y="0"/>
                </a:moveTo>
                <a:lnTo>
                  <a:pt x="0" y="0"/>
                </a:lnTo>
                <a:lnTo>
                  <a:pt x="0" y="6092312"/>
                </a:lnTo>
                <a:lnTo>
                  <a:pt x="11256004" y="6092312"/>
                </a:lnTo>
                <a:lnTo>
                  <a:pt x="11256004" y="0"/>
                </a:lnTo>
                <a:close/>
              </a:path>
            </a:pathLst>
          </a:custGeom>
          <a:blipFill>
            <a:blip r:embed="rId3">
              <a:alphaModFix amt="31319"/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2404277" y="1428235"/>
            <a:ext cx="13479447" cy="14593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600"/>
              </a:lnSpc>
            </a:pPr>
            <a:r>
              <a:rPr lang="en-US" sz="9000" b="1" dirty="0">
                <a:solidFill>
                  <a:srgbClr val="5A656C"/>
                </a:solidFill>
                <a:latin typeface="Maven Pro Bold"/>
                <a:ea typeface="Maven Pro Bold"/>
                <a:cs typeface="Maven Pro Bold"/>
                <a:sym typeface="Maven Pro Bold"/>
              </a:rPr>
              <a:t>Methodology:</a:t>
            </a:r>
          </a:p>
        </p:txBody>
      </p:sp>
      <p:sp>
        <p:nvSpPr>
          <p:cNvPr id="5" name="Freeform 5"/>
          <p:cNvSpPr/>
          <p:nvPr/>
        </p:nvSpPr>
        <p:spPr>
          <a:xfrm rot="125954" flipH="1" flipV="1">
            <a:off x="-6032875" y="-750138"/>
            <a:ext cx="10678114" cy="6006439"/>
          </a:xfrm>
          <a:custGeom>
            <a:avLst/>
            <a:gdLst/>
            <a:ahLst/>
            <a:cxnLst/>
            <a:rect l="l" t="t" r="r" b="b"/>
            <a:pathLst>
              <a:path w="10678114" h="6006439">
                <a:moveTo>
                  <a:pt x="10678114" y="6006439"/>
                </a:moveTo>
                <a:lnTo>
                  <a:pt x="0" y="6006439"/>
                </a:lnTo>
                <a:lnTo>
                  <a:pt x="0" y="0"/>
                </a:lnTo>
                <a:lnTo>
                  <a:pt x="10678114" y="0"/>
                </a:lnTo>
                <a:lnTo>
                  <a:pt x="10678114" y="6006439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125954">
            <a:off x="13642761" y="5030699"/>
            <a:ext cx="10678114" cy="6006439"/>
          </a:xfrm>
          <a:custGeom>
            <a:avLst/>
            <a:gdLst/>
            <a:ahLst/>
            <a:cxnLst/>
            <a:rect l="l" t="t" r="r" b="b"/>
            <a:pathLst>
              <a:path w="10678114" h="6006439">
                <a:moveTo>
                  <a:pt x="0" y="0"/>
                </a:moveTo>
                <a:lnTo>
                  <a:pt x="10678114" y="0"/>
                </a:lnTo>
                <a:lnTo>
                  <a:pt x="10678114" y="6006439"/>
                </a:lnTo>
                <a:lnTo>
                  <a:pt x="0" y="60064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1360060" flipV="1">
            <a:off x="11332625" y="-1427421"/>
            <a:ext cx="11256004" cy="6092312"/>
          </a:xfrm>
          <a:custGeom>
            <a:avLst/>
            <a:gdLst/>
            <a:ahLst/>
            <a:cxnLst/>
            <a:rect l="l" t="t" r="r" b="b"/>
            <a:pathLst>
              <a:path w="11256004" h="6092312">
                <a:moveTo>
                  <a:pt x="0" y="6092312"/>
                </a:moveTo>
                <a:lnTo>
                  <a:pt x="11256004" y="6092312"/>
                </a:lnTo>
                <a:lnTo>
                  <a:pt x="11256004" y="0"/>
                </a:lnTo>
                <a:lnTo>
                  <a:pt x="0" y="0"/>
                </a:lnTo>
                <a:lnTo>
                  <a:pt x="0" y="6092312"/>
                </a:lnTo>
                <a:close/>
              </a:path>
            </a:pathLst>
          </a:custGeom>
          <a:blipFill>
            <a:blip r:embed="rId3">
              <a:alphaModFix amt="31319"/>
            </a:blip>
            <a:stretch>
              <a:fillRect/>
            </a:stretch>
          </a:blipFill>
        </p:spPr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BC0FA94-8732-40FE-9849-502949B666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96400" y="3162299"/>
            <a:ext cx="7419630" cy="569646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0411136-C8AE-D915-88E4-03DF4F2CCF98}"/>
              </a:ext>
            </a:extLst>
          </p:cNvPr>
          <p:cNvSpPr txBox="1"/>
          <p:nvPr/>
        </p:nvSpPr>
        <p:spPr>
          <a:xfrm>
            <a:off x="599334" y="3333447"/>
            <a:ext cx="8194713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200" b="1" dirty="0"/>
              <a:t>Data Collection</a:t>
            </a:r>
            <a:r>
              <a:rPr lang="en-IN" sz="3200" dirty="0"/>
              <a:t> → Order &amp; SKU data</a:t>
            </a:r>
          </a:p>
          <a:p>
            <a:pPr>
              <a:buNone/>
            </a:pPr>
            <a:r>
              <a:rPr lang="en-IN" sz="3200" b="1" dirty="0"/>
              <a:t>Data Cleaning</a:t>
            </a:r>
            <a:r>
              <a:rPr lang="en-IN" sz="3200" dirty="0"/>
              <a:t> → Remove errors &amp; duplicates</a:t>
            </a:r>
          </a:p>
          <a:p>
            <a:pPr>
              <a:buNone/>
            </a:pPr>
            <a:r>
              <a:rPr lang="en-IN" sz="3200" b="1" dirty="0"/>
              <a:t>Co-Pick Mining</a:t>
            </a:r>
            <a:r>
              <a:rPr lang="en-IN" sz="3200" dirty="0"/>
              <a:t> → Find frequently paired products</a:t>
            </a:r>
          </a:p>
          <a:p>
            <a:pPr>
              <a:buNone/>
            </a:pPr>
            <a:r>
              <a:rPr lang="en-IN" sz="3200" b="1" dirty="0"/>
              <a:t>Affinity Analysis</a:t>
            </a:r>
            <a:r>
              <a:rPr lang="en-IN" sz="3200" dirty="0"/>
              <a:t> → Measure product relationships</a:t>
            </a:r>
          </a:p>
          <a:p>
            <a:pPr>
              <a:buNone/>
            </a:pPr>
            <a:r>
              <a:rPr lang="en-IN" sz="3200" b="1" dirty="0"/>
              <a:t>Slot Optimization</a:t>
            </a:r>
            <a:r>
              <a:rPr lang="en-IN" sz="3200" dirty="0"/>
              <a:t> → Assign products to nearby slots</a:t>
            </a:r>
          </a:p>
          <a:p>
            <a:pPr>
              <a:buNone/>
            </a:pPr>
            <a:r>
              <a:rPr lang="en-IN" sz="3200" b="1" dirty="0"/>
              <a:t>Evaluation</a:t>
            </a:r>
            <a:r>
              <a:rPr lang="en-IN" sz="3200" dirty="0"/>
              <a:t> → Measure travel time &amp; throughput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83" r="-2083"/>
            </a:stretch>
          </a:blipFill>
        </p:spPr>
      </p:sp>
      <p:sp>
        <p:nvSpPr>
          <p:cNvPr id="3" name="Freeform 3"/>
          <p:cNvSpPr/>
          <p:nvPr/>
        </p:nvSpPr>
        <p:spPr>
          <a:xfrm rot="1481024" flipV="1">
            <a:off x="10702632" y="-1980721"/>
            <a:ext cx="13300530" cy="7198912"/>
          </a:xfrm>
          <a:custGeom>
            <a:avLst/>
            <a:gdLst/>
            <a:ahLst/>
            <a:cxnLst/>
            <a:rect l="l" t="t" r="r" b="b"/>
            <a:pathLst>
              <a:path w="13300530" h="7198912">
                <a:moveTo>
                  <a:pt x="0" y="7198912"/>
                </a:moveTo>
                <a:lnTo>
                  <a:pt x="13300530" y="7198912"/>
                </a:lnTo>
                <a:lnTo>
                  <a:pt x="13300530" y="0"/>
                </a:lnTo>
                <a:lnTo>
                  <a:pt x="0" y="0"/>
                </a:lnTo>
                <a:lnTo>
                  <a:pt x="0" y="7198912"/>
                </a:lnTo>
                <a:close/>
              </a:path>
            </a:pathLst>
          </a:custGeom>
          <a:blipFill>
            <a:blip r:embed="rId3">
              <a:alphaModFix amt="54000"/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1481024" flipH="1">
            <a:off x="-5715162" y="5068809"/>
            <a:ext cx="13300530" cy="7198912"/>
          </a:xfrm>
          <a:custGeom>
            <a:avLst/>
            <a:gdLst/>
            <a:ahLst/>
            <a:cxnLst/>
            <a:rect l="l" t="t" r="r" b="b"/>
            <a:pathLst>
              <a:path w="13300530" h="7198912">
                <a:moveTo>
                  <a:pt x="13300530" y="0"/>
                </a:moveTo>
                <a:lnTo>
                  <a:pt x="0" y="0"/>
                </a:lnTo>
                <a:lnTo>
                  <a:pt x="0" y="7198912"/>
                </a:lnTo>
                <a:lnTo>
                  <a:pt x="13300530" y="7198912"/>
                </a:lnTo>
                <a:lnTo>
                  <a:pt x="13300530" y="0"/>
                </a:lnTo>
                <a:close/>
              </a:path>
            </a:pathLst>
          </a:custGeom>
          <a:blipFill>
            <a:blip r:embed="rId3">
              <a:alphaModFix amt="54000"/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7825182" y="4401665"/>
            <a:ext cx="10678114" cy="6006439"/>
          </a:xfrm>
          <a:custGeom>
            <a:avLst/>
            <a:gdLst/>
            <a:ahLst/>
            <a:cxnLst/>
            <a:rect l="l" t="t" r="r" b="b"/>
            <a:pathLst>
              <a:path w="10678114" h="6006439">
                <a:moveTo>
                  <a:pt x="0" y="0"/>
                </a:moveTo>
                <a:lnTo>
                  <a:pt x="10678114" y="0"/>
                </a:lnTo>
                <a:lnTo>
                  <a:pt x="10678114" y="6006439"/>
                </a:lnTo>
                <a:lnTo>
                  <a:pt x="0" y="60064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125954" flipH="1" flipV="1">
            <a:off x="-3945493" y="-1056495"/>
            <a:ext cx="10678114" cy="6006439"/>
          </a:xfrm>
          <a:custGeom>
            <a:avLst/>
            <a:gdLst/>
            <a:ahLst/>
            <a:cxnLst/>
            <a:rect l="l" t="t" r="r" b="b"/>
            <a:pathLst>
              <a:path w="10678114" h="6006439">
                <a:moveTo>
                  <a:pt x="10678113" y="6006439"/>
                </a:moveTo>
                <a:lnTo>
                  <a:pt x="0" y="6006439"/>
                </a:lnTo>
                <a:lnTo>
                  <a:pt x="0" y="0"/>
                </a:lnTo>
                <a:lnTo>
                  <a:pt x="10678113" y="0"/>
                </a:lnTo>
                <a:lnTo>
                  <a:pt x="10678113" y="6006439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3324494" y="2953546"/>
            <a:ext cx="13479447" cy="2331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020"/>
              </a:lnSpc>
            </a:pPr>
            <a:r>
              <a:rPr lang="en-US" sz="13585" b="1" dirty="0">
                <a:solidFill>
                  <a:srgbClr val="5A656C"/>
                </a:solidFill>
                <a:latin typeface="Maven Pro Bold"/>
                <a:ea typeface="Maven Pro Bold"/>
                <a:cs typeface="Maven Pro Bold"/>
                <a:sym typeface="Maven Pro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2926</TotalTime>
  <Words>400</Words>
  <Application>Microsoft Office PowerPoint</Application>
  <PresentationFormat>Custom</PresentationFormat>
  <Paragraphs>61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Maven Pro Medium</vt:lpstr>
      <vt:lpstr>Maven Pro</vt:lpstr>
      <vt:lpstr>Arial</vt:lpstr>
      <vt:lpstr>Maven Pro Bold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Grey Modern Professional Presentation</dc:title>
  <dc:creator>krishnasree mokkapati</dc:creator>
  <cp:lastModifiedBy>krishnasree mokkapati</cp:lastModifiedBy>
  <cp:revision>4</cp:revision>
  <dcterms:created xsi:type="dcterms:W3CDTF">2006-08-16T00:00:00Z</dcterms:created>
  <dcterms:modified xsi:type="dcterms:W3CDTF">2026-08-27T05:26:41Z</dcterms:modified>
  <dc:identifier>DAHS0FzbcxA</dc:identifier>
</cp:coreProperties>
</file>